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14"/>
            <a:ext cx="10566400" cy="448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14"/>
            <a:ext cx="10566400" cy="448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7466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AnalystLab Africa Consulting | Week 5 | Data Analytics track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09573"/>
            <a:ext cx="10883392" cy="1305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4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Logistics: Executive BI Review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992827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FD7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order value is lost, and what to fix first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551627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Yawa Jacqueline GBEDEVI, Junior Data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overview and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3014"/>
            <a:ext cx="5181600" cy="2242807"/>
          </a:xfrm>
          <a:prstGeom prst="roundRect">
            <a:avLst>
              <a:gd name="adj" fmla="val 453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717014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business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1570" y="2118320"/>
            <a:ext cx="474141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 orders from 1,000 customers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 products and 150 suppliers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Warehouses in Abuja, Kano and Lagos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from 1 January to 8 September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1463014"/>
            <a:ext cx="5181600" cy="2242807"/>
          </a:xfrm>
          <a:prstGeom prst="roundRect">
            <a:avLst>
              <a:gd name="adj" fmla="val 453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717014"/>
            <a:ext cx="481380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objectives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16370" y="2118320"/>
            <a:ext cx="4741418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business performance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delivery efficiency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operating costs and returns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inventory and suppliers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executive decisions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1746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BI Review |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preparation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3015"/>
            <a:ext cx="2527300" cy="1419754"/>
          </a:xfrm>
          <a:prstGeom prst="roundRect">
            <a:avLst>
              <a:gd name="adj" fmla="val 7156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666215"/>
            <a:ext cx="218452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Import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1986228"/>
            <a:ext cx="218452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datasets inspected for types, keys and quality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92500" y="1463015"/>
            <a:ext cx="2527300" cy="1419754"/>
          </a:xfrm>
          <a:prstGeom prst="roundRect">
            <a:avLst>
              <a:gd name="adj" fmla="val 715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95700" y="1666215"/>
            <a:ext cx="218452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Clean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95700" y="1986228"/>
            <a:ext cx="218452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Query: dates, prices, text, calendar table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15"/>
            <a:ext cx="2527300" cy="1419754"/>
          </a:xfrm>
          <a:prstGeom prst="roundRect">
            <a:avLst>
              <a:gd name="adj" fmla="val 715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375400" y="1666215"/>
            <a:ext cx="218452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75400" y="1986228"/>
            <a:ext cx="2184527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schema with 11 relationships, revenue per order 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51900" y="1463015"/>
            <a:ext cx="2527300" cy="1419754"/>
          </a:xfrm>
          <a:prstGeom prst="roundRect">
            <a:avLst>
              <a:gd name="adj" fmla="val 715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055100" y="1666215"/>
            <a:ext cx="218452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Measure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55100" y="1986228"/>
            <a:ext cx="218452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DAX measures, checked against control totals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800" y="3085968"/>
            <a:ext cx="10566400" cy="1160727"/>
          </a:xfrm>
          <a:prstGeom prst="roundRect">
            <a:avLst>
              <a:gd name="adj" fmla="val 437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800" y="3085968"/>
            <a:ext cx="10566400" cy="1160727"/>
          </a:xfrm>
          <a:custGeom>
            <a:avLst/>
            <a:gdLst/>
            <a:ahLst/>
            <a:cxnLst/>
            <a:rect l="l" t="t" r="r" b="b"/>
            <a:pathLst>
              <a:path w="10566400" h="1160727">
                <a:moveTo>
                  <a:pt x="50800" y="1160727"/>
                </a:moveTo>
                <a:lnTo>
                  <a:pt x="50800" y="1160727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1160727"/>
                </a:lnTo>
                <a:close/>
              </a:path>
            </a:pathLst>
          </a:custGeom>
          <a:solidFill>
            <a:srgbClr val="D1495B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600" y="3289168"/>
            <a:ext cx="1030782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149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Flagged, not deleted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7600" y="3581268"/>
            <a:ext cx="10307828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3,342 shipments belong to undelivered orders. 335 of 500 returns belong to undelivered orders. No table links suppliers to products or shipments.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746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BI Review |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walkthrough: five pages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3015"/>
            <a:ext cx="105664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602715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86200" y="1602715"/>
            <a:ext cx="75084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cards, revenue and order trends, returns by reason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098015"/>
            <a:ext cx="105664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37715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Shipment and Delivery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86200" y="2237715"/>
            <a:ext cx="75084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 status, delays by warehouse and 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2733015"/>
            <a:ext cx="105664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872715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Analytics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86200" y="2872715"/>
            <a:ext cx="75084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customers, revenue by city, order frequency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68015"/>
            <a:ext cx="105664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507715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and Warehouse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86200" y="3507715"/>
            <a:ext cx="75084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Stock, turnover, low stock, warehouse comparison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4003015"/>
            <a:ext cx="10566400" cy="54610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4142715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and Product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86200" y="4142715"/>
            <a:ext cx="750849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by category and product, product returns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1746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BI Review |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3015"/>
            <a:ext cx="3420533" cy="139693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691615"/>
            <a:ext cx="3052233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7.11M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1400" y="2382441"/>
            <a:ext cx="305223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Realised revenue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5733" y="1463015"/>
            <a:ext cx="3420533" cy="139693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14333" y="1691615"/>
            <a:ext cx="3052233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149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14333" y="2382441"/>
            <a:ext cx="305223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Cancellation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8667" y="1463015"/>
            <a:ext cx="3420533" cy="139693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187267" y="1691615"/>
            <a:ext cx="3052233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D149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36.3%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187267" y="2382441"/>
            <a:ext cx="305223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On-time delivery rate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063149"/>
            <a:ext cx="3420533" cy="139693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3291749"/>
            <a:ext cx="3052233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3.57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041400" y="3982576"/>
            <a:ext cx="305223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delay, days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5733" y="3063149"/>
            <a:ext cx="3420533" cy="139693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14333" y="3291749"/>
            <a:ext cx="3052233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14333" y="3982576"/>
            <a:ext cx="305223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rate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58667" y="3063149"/>
            <a:ext cx="3420533" cy="139693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187267" y="3291749"/>
            <a:ext cx="3052233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187267" y="3982576"/>
            <a:ext cx="305223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in stock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746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BI Review |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thirds of order value never becomes revenue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3015"/>
            <a:ext cx="4064000" cy="1224227"/>
          </a:xfrm>
          <a:prstGeom prst="roundRect">
            <a:avLst>
              <a:gd name="adj" fmla="val 829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666215"/>
            <a:ext cx="376732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21.67M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6000" y="2235135"/>
            <a:ext cx="376732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order value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814241"/>
            <a:ext cx="4064000" cy="1224227"/>
          </a:xfrm>
          <a:prstGeom prst="roundRect">
            <a:avLst>
              <a:gd name="adj" fmla="val 8299"/>
            </a:avLst>
          </a:prstGeom>
          <a:solidFill>
            <a:srgbClr val="0B3C5D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017441"/>
            <a:ext cx="376732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7.11M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16000" y="3586361"/>
            <a:ext cx="376732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Realised from delivered orders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32908" y="2293541"/>
            <a:ext cx="63246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2692" indent="-2026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1,626 orders cancelled (32.5%)</a:t>
            </a:r>
            <a:endParaRPr lang="en-US" sz="1600" dirty="0"/>
          </a:p>
          <a:p>
            <a:pPr algn="l" marL="202692" indent="-2026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1,716 orders still pending (34.3%)</a:t>
            </a:r>
            <a:endParaRPr lang="en-US" sz="1600" dirty="0"/>
          </a:p>
          <a:p>
            <a:pPr algn="l" marL="202692" indent="-2026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14.56M of order value sits in these two groups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746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BI Review |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delays hit the whole network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3015"/>
            <a:ext cx="4064000" cy="1224227"/>
          </a:xfrm>
          <a:prstGeom prst="roundRect">
            <a:avLst>
              <a:gd name="adj" fmla="val 829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666215"/>
            <a:ext cx="376732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D149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63.7%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6000" y="2235135"/>
            <a:ext cx="376732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shipments delayed (3,186 of 5,000)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814241"/>
            <a:ext cx="4064000" cy="1224227"/>
          </a:xfrm>
          <a:prstGeom prst="roundRect">
            <a:avLst>
              <a:gd name="adj" fmla="val 829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017441"/>
            <a:ext cx="376732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3.57 days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16000" y="3586361"/>
            <a:ext cx="376732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delay, tolerance is 2 days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46370" y="2322116"/>
            <a:ext cx="6311138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On-time rates by warehouse range from about 32% to 41%</a:t>
            </a:r>
            <a:endParaRPr lang="en-US" sz="1500" dirty="0"/>
          </a:p>
          <a:p>
            <a:pPr algn="l" marL="189230" indent="-18923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Lagos has the most delays in number, mostly because of volume</a:t>
            </a:r>
            <a:endParaRPr lang="en-US" sz="1500" dirty="0"/>
          </a:p>
          <a:p>
            <a:pPr algn="l" marL="189230" indent="-18923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delivery is the first reason for returns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746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BI Review |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is spread out, stock is not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3015"/>
            <a:ext cx="3420533" cy="1785541"/>
          </a:xfrm>
          <a:prstGeom prst="roundRect">
            <a:avLst>
              <a:gd name="adj" fmla="val 569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691615"/>
            <a:ext cx="305223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and products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1400" y="2024329"/>
            <a:ext cx="3052233" cy="1021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customers bring 5% of revenue, top 10 products just under 10%. Orders stay between 577 and 654 a month.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5733" y="1463015"/>
            <a:ext cx="3420533" cy="1785541"/>
          </a:xfrm>
          <a:prstGeom prst="roundRect">
            <a:avLst>
              <a:gd name="adj" fmla="val 569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14333" y="1691615"/>
            <a:ext cx="305223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4333" y="2024329"/>
            <a:ext cx="305223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1.0M units turn very slowly (0.024 to 0.029), yet 380 stock records sit below the low-stock threshold.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8667" y="1463015"/>
            <a:ext cx="3420533" cy="1785541"/>
          </a:xfrm>
          <a:prstGeom prst="roundRect">
            <a:avLst>
              <a:gd name="adj" fmla="val 569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187267" y="1691615"/>
            <a:ext cx="305223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7267" y="2024329"/>
            <a:ext cx="3052233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Ibadan brings 1.8M in revenue, with no warehouse in the city.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746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BI Review |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C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priorities, eleven in the report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63018"/>
            <a:ext cx="10566400" cy="434314"/>
          </a:xfrm>
          <a:prstGeom prst="roundRect">
            <a:avLst>
              <a:gd name="adj" fmla="val 17545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90600" y="1564618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28900" y="1564618"/>
            <a:ext cx="60303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 60% on-time target and review late shipments weekly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61400" y="1573479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63.7% of shipments delayed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1960829"/>
            <a:ext cx="10566400" cy="434314"/>
          </a:xfrm>
          <a:prstGeom prst="roundRect">
            <a:avLst>
              <a:gd name="adj" fmla="val 1754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2062429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28900" y="2062429"/>
            <a:ext cx="60303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a reason and confirm stock before accepting orders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61400" y="2071291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32.5% of orders cancelled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458641"/>
            <a:ext cx="10566400" cy="434314"/>
          </a:xfrm>
          <a:prstGeom prst="roundRect">
            <a:avLst>
              <a:gd name="adj" fmla="val 1754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2560241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28900" y="2560241"/>
            <a:ext cx="60303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creating shipments for undelivered orders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61400" y="2569108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3,342 shipments affected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2956458"/>
            <a:ext cx="10566400" cy="434314"/>
          </a:xfrm>
          <a:prstGeom prst="roundRect">
            <a:avLst>
              <a:gd name="adj" fmla="val 1754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3058058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28900" y="3058058"/>
            <a:ext cx="60303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 customers past the 2-day tolerance, add a picking 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61400" y="306692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delivery is the top reason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800" y="3454270"/>
            <a:ext cx="10566400" cy="434314"/>
          </a:xfrm>
          <a:prstGeom prst="roundRect">
            <a:avLst>
              <a:gd name="adj" fmla="val 1754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3555870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28900" y="3555870"/>
            <a:ext cx="60303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Rebalance stock, set reorder points by warehouse and product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61400" y="3564731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380 low-stock records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3952081"/>
            <a:ext cx="10566400" cy="434314"/>
          </a:xfrm>
          <a:prstGeom prst="roundRect">
            <a:avLst>
              <a:gd name="adj" fmla="val 17545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" y="4053681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8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28900" y="4053681"/>
            <a:ext cx="603034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SupplierID and build a supplier scorecard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61400" y="4062549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 suppliers not measurable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17466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BI Review |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impact and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18"/>
            <a:ext cx="4185920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1.07M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443429"/>
            <a:ext cx="4185920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7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gain from recovering 5 points of cancellations: 250 orders at about 4,290 each, roughly 15% more realised revenue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297170" y="1780449"/>
            <a:ext cx="6258814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4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 is healthy and steady</a:t>
            </a:r>
            <a:endParaRPr lang="en-US" sz="1500" dirty="0"/>
          </a:p>
          <a:p>
            <a:pPr algn="l" marL="189230" indent="-18923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4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weak points are operational and fixable</a:t>
            </a:r>
            <a:endParaRPr lang="en-US" sz="1500" dirty="0"/>
          </a:p>
          <a:p>
            <a:pPr algn="l" marL="189230" indent="-18923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4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steps: agree targets, fix data capture, add a supplier key, track five KPIs weekly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18452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FD7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SwiftLog BI Review |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ftLog Executive Presentation">
  <a:themeElements>
    <a:clrScheme name="SwiftLog Executive Presentation">
      <a:dk1>
        <a:srgbClr val="0B3C5D"/>
      </a:dk1>
      <a:lt1>
        <a:srgbClr val="F4F6F9"/>
      </a:lt1>
      <a:dk2>
        <a:srgbClr val="456B84"/>
      </a:dk2>
      <a:lt2>
        <a:srgbClr val="DDE3E9"/>
      </a:lt2>
      <a:accent1>
        <a:srgbClr val="1D8A99"/>
      </a:accent1>
      <a:accent2>
        <a:srgbClr val="D1495B"/>
      </a:accent2>
      <a:accent3>
        <a:srgbClr val="F2A900"/>
      </a:accent3>
      <a:accent4>
        <a:srgbClr val="1F2933"/>
      </a:accent4>
      <a:accent5>
        <a:srgbClr val="6A7179"/>
      </a:accent5>
      <a:accent6>
        <a:srgbClr val="BFD7E3"/>
      </a:accent6>
      <a:hlink>
        <a:srgbClr val="0563C1"/>
      </a:hlink>
      <a:folHlink>
        <a:srgbClr val="954F72"/>
      </a:folHlink>
    </a:clrScheme>
    <a:fontScheme name="SwiftLog Executive Presentation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SwiftLog Executive Presentation</dc:title>
  <dc:subject/>
  <dc:creator/>
  <cp:lastModifiedBy/>
  <cp:revision>1</cp:revision>
  <dcterms:created xsi:type="dcterms:W3CDTF">2026-10-20T20:45:42Z</dcterms:created>
  <dcterms:modified xsi:type="dcterms:W3CDTF">2026-10-20T20:45:42Z</dcterms:modified>
</cp:coreProperties>
</file>